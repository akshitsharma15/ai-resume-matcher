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Threat Actor Analysis: OilRig (APT34)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Course: Cybersecurity Final Project</a:t>
            </a:r>
          </a:p>
          <a:p>
            <a:r>
              <a:t>Date: February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Actor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Classification: Advanced Persistent Threat (APT)</a:t>
            </a:r>
          </a:p>
          <a:p>
            <a:pPr/>
            <a:r>
              <a:t>Aliases: APT34, Helix Kitten, Cobalt Gypsy, IRN2, GreenBug, Earth Simnavaz</a:t>
            </a:r>
          </a:p>
          <a:p>
            <a:pPr/>
            <a:r>
              <a:t>Origin: Iran (Linked to Ministry of Intelligence and Security - MOIS)</a:t>
            </a:r>
          </a:p>
          <a:p>
            <a:pPr/>
            <a:r>
              <a:t>Skill Level: High (Professional operations and specialized tool development)</a:t>
            </a:r>
          </a:p>
          <a:p>
            <a:pPr/>
            <a:r>
              <a:t>Resources: Extensive state-sponsored funding and custom malware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Motivations &amp; Geopolitical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Primary Motivation: Strategic espionage and long-term intelligence gathering</a:t>
            </a:r>
          </a:p>
          <a:p>
            <a:pPr/>
            <a:r>
              <a:t>Strategic Objectives: Surveillance of regional rivals and monitoring political dissidents</a:t>
            </a:r>
          </a:p>
          <a:p>
            <a:pPr/>
            <a:r>
              <a:t>Geopolitical Context: Regional rivalries (Saudi Arabia, Israel, UAE) and asymmetric warfare</a:t>
            </a:r>
          </a:p>
          <a:p>
            <a:pPr/>
            <a:r>
              <a:t>Insight: Focus on critical infrastructure for regional deterrence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Lockheed Martin Kill Chain (Phases 1-2)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Reconnaissance: Social media research (LinkedIn) and fake persona creation</a:t>
            </a:r>
          </a:p>
          <a:p>
            <a:pPr/>
            <a:r>
              <a:t>2. Weaponization: Custom backdoors (Helminth, RDAT) and weaponized Office docs (Clayslide)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Lockheed Martin Kill Chain (Phases 3-4)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3. Delivery: Spear-phishing with malicious macros or supply chain compromises</a:t>
            </a:r>
          </a:p>
          <a:p>
            <a:pPr/>
            <a:r>
              <a:t>4. Exploitation: Social engineering (fake job offers) and software vulnerabilities (CVE-2017-11882)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Lockheed Martin Kill Chain (Phases 5-6)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5. Installation: Persistent backdoors (Tonedeaf, RDAT) using steganography in images</a:t>
            </a:r>
          </a:p>
          <a:p>
            <a:pPr/>
            <a:r>
              <a:t>6. Command &amp; Control (C2): DNS tunneling and encrypted HTTPS traffic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Lockheed Martin Kill Chain (Phase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7. Actions on Objectives: Sustained presence for credential harvesting and exfiltration</a:t>
            </a:r>
          </a:p>
          <a:p>
            <a:pPr/>
            <a:r>
              <a:t>Targeting: Sensitive intelligence, military, and financial documents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Financial Sector (2018-2019)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Target: Banking infrastructure across the Middle East (UAE, Lebanon, Kuwait)</a:t>
            </a:r>
          </a:p>
          <a:p>
            <a:pPr/>
            <a:r>
              <a:t>Primary Effect: Technical compromise of servers and SWIFT systems</a:t>
            </a:r>
          </a:p>
          <a:p>
            <a:pPr/>
            <a:r>
              <a:t>Secondary Effect: Remediation costs and operational disruption</a:t>
            </a:r>
          </a:p>
          <a:p>
            <a:pPr/>
            <a:r>
              <a:t>Second-order Effect: Regional financial market instability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Energy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Target: Regional oil and gas firms</a:t>
            </a:r>
          </a:p>
          <a:p>
            <a:pPr/>
            <a:r>
              <a:t>Primary Effect: Deployment of backdoors (Powbat) on ICS systems</a:t>
            </a:r>
          </a:p>
          <a:p>
            <a:pPr/>
            <a:r>
              <a:t>Secondary Effect: Significant incident response expenses</a:t>
            </a:r>
          </a:p>
          <a:p>
            <a:pPr/>
            <a:r>
              <a:t>Second-order Effect: Threats to national energy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Telecommunications (2020)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Target: Middle Eastern telecommunications organizations</a:t>
            </a:r>
          </a:p>
          <a:p>
            <a:pPr/>
            <a:r>
              <a:t>Primary Effect: Web shell exploitation and credential capture (Mimikatz)</a:t>
            </a:r>
          </a:p>
          <a:p>
            <a:pPr/>
            <a:r>
              <a:t>Secondary Effect: Compromise of user data and hardware replacement costs</a:t>
            </a:r>
          </a:p>
          <a:p>
            <a:pPr/>
            <a:r>
              <a:t>Second-order Effect: Erosion of private communication 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Threat: Private vs. 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Characterization: Chiefly a Public Concern for policy makers</a:t>
            </a:r>
          </a:p>
          <a:p>
            <a:pPr/>
            <a:r>
              <a:t>Reasoning: State-coordinated resources used for national security goals</a:t>
            </a:r>
          </a:p>
          <a:p>
            <a:pPr/>
            <a:r>
              <a:t>Impact: Private breaches transform into national security crises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Intelligence Sharing: Public-private partnerships for IOC sharing</a:t>
            </a:r>
          </a:p>
          <a:p>
            <a:pPr/>
            <a:r>
              <a:t>National Defense: Mandate cybersecurity standards for systemically important orgs</a:t>
            </a:r>
          </a:p>
          <a:p>
            <a:pPr/>
            <a:r>
              <a:t>Diplomatic Response: Coordinated attribution and targeted sanctions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OilRig favors stealth and persistence over immediate destruction</a:t>
            </a:r>
          </a:p>
          <a:p>
            <a:pPr/>
            <a:r>
              <a:t>A permanent fixture of Iranian asymmetric warfare</a:t>
            </a:r>
          </a:p>
          <a:p>
            <a:pPr/>
            <a:r>
              <a:t>Must be treated as a strategic threat to regional stability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CrowdStrike: 2025 Global Threat Report</a:t>
            </a:r>
          </a:p>
          <a:p>
            <a:pPr/>
            <a:r>
              <a:t>Mandiant/FireEye: APT34 Technical Analysis</a:t>
            </a:r>
          </a:p>
          <a:p>
            <a:pPr/>
            <a:r>
              <a:t>Palo Alto Networks (Unit 42): OilRig Campaign Analysis</a:t>
            </a:r>
          </a:p>
          <a:p>
            <a:pPr/>
            <a:r>
              <a:t>Symantec: Greenbug &amp; OilRig Threat Intel</a:t>
            </a:r>
          </a:p>
          <a:p>
            <a:pPr/>
            <a:r>
              <a:t>MITRE ATT&amp;CK: Group G0049 (APT34) 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